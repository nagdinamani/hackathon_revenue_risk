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embeddedFontLst>
    <p:embeddedFont>
      <p:font typeface="Space Grotesk" pitchFamily="34" charset="0"/>
      <p:regular r:id="rId14"/>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“Imagine it’s October 15th, two weeks into Q4.” Pause, then go to the next slide. Total pitch time: about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October 15th. The Q4 target is $125M and the forecast is $116.8M, so we’re $8.2M short. Today the reasons are spread across the CRM, inventory, billing and support. Each team says their part is fine, and by the time anyone adds it up, the quarter is over.”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Recovery Agent puts all of it in one risk ledger: 74 at-risk items worth $12.4M, in five categories. Pipeline deals that slip, orders blocked by stock shortages, billing errors, renewals at risk, and support escalations. Every item has an owner, a due date, a blocker and a recovery probability. The thresholds are settings in one config table, not hardcoded. Anyone can ask questions in plain English and get the same governed numbers the app shows.”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“Late-stage deal slippage is the biggest exposure: $4.1M across six deals, all stalled longer than our 45-day limit. The largest, $1.1M with Pioneer Holdings, has sat in legal review for 80 days and closes in five days. For each deal we name the blocker and match it to a playbook: executive escalation, a legal fast-track, or procurement acceleration. We also flag a deal marked ‘Commit’ that hasn’t moved in 88 days. That’s forecast inflation, and we catch it before the board meeting.” (about 45 seconds) If asked: counting only Negotiation, Commit and Legal Review gives $3.76M.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simulate the quarter 20,000 times. Governed recovery brings in about $5M, which cuts the gap from $8.2M to $3.2M. Adding moves that need approval, like split shipments and capped dispute concessions, gets it to about $2.2M. The simulation puts the chance of closing the full gap at roughly zero. Most tools would hide that. We show it in week three, while leadership can still reset expectations or pull deals forward.” (about 35 seconds) If asked about ML: with the ML win model on, pipeline recovery drops to almost nothing and the median forecast is $119.8M instead of $121.6M. The model treats long-stalled deals as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fixes this quarter; prevention protects the next one. The agent groups root causes and proposes controls. Checking POs and customer master data when an order is entered alone could prevent about $840K of billing exposure next quarter.” (about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ledger. Recovery probabilities you can trust. A plan for each team. A full refresh takes about two minutes, and the AI step only re-processes items that changed. We don’t just tell you you’ll miss the number. We tell you by how much, why, and what to do on Monday.” (about 15 seconds) Then thank the judges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3" y="1127663"/>
            <a:ext cx="10566423" cy="502896"/>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3" y="1935358"/>
            <a:ext cx="10566417" cy="4109842"/>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3" y="1127663"/>
            <a:ext cx="10566423" cy="502896"/>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3" y="1935358"/>
            <a:ext cx="10566417" cy="4109842"/>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783" y="2247960"/>
            <a:ext cx="10883416" cy="309827"/>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E8924A"/>
                </a:solidFill>
                <a:latin typeface="IBM Plex Sans" pitchFamily="34" charset="0"/>
                <a:ea typeface="IBM Plex Sans" pitchFamily="34" charset="-122"/>
                <a:cs typeface="IBM Plex Sans" pitchFamily="34" charset="-120"/>
              </a:rPr>
              <a:t>HACKATHON · REVENUE AT RISK</a:t>
            </a:r>
            <a:endParaRPr lang="en-US" sz="1600" dirty="0"/>
          </a:p>
        </p:txBody>
      </p:sp>
      <p:sp>
        <p:nvSpPr>
          <p:cNvPr id="3" name="Text 1"/>
          <p:cNvSpPr/>
          <p:nvPr>
            <p:ph type="title"/>
          </p:nvPr>
        </p:nvSpPr>
        <p:spPr>
          <a:xfrm>
            <a:off x="812783" y="2786362"/>
            <a:ext cx="10883416" cy="665455"/>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Space Grotesk" pitchFamily="34" charset="0"/>
                <a:ea typeface="Space Grotesk" pitchFamily="34" charset="-122"/>
                <a:cs typeface="Space Grotesk" pitchFamily="34" charset="-120"/>
              </a:rPr>
              <a:t>Revenue Recovery Agent</a:t>
            </a:r>
            <a:endParaRPr lang="en-US" sz="4800" dirty="0"/>
          </a:p>
        </p:txBody>
      </p:sp>
      <p:sp>
        <p:nvSpPr>
          <p:cNvPr id="4" name="Text 2"/>
          <p:cNvSpPr/>
          <p:nvPr/>
        </p:nvSpPr>
        <p:spPr>
          <a:xfrm>
            <a:off x="812783" y="3680392"/>
            <a:ext cx="8502651" cy="751756"/>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3"/>
                </a:solidFill>
                <a:latin typeface="IBM Plex Sans" pitchFamily="34" charset="0"/>
                <a:ea typeface="IBM Plex Sans" pitchFamily="34" charset="-122"/>
                <a:cs typeface="IBM Plex Sans" pitchFamily="34" charset="-120"/>
              </a:rPr>
              <a:t>Find every dollar that threatens the quarter, put an honest number on it, and tell each team what to do on Monday.</a:t>
            </a:r>
            <a:endParaRPr lang="en-US" sz="2200" dirty="0"/>
          </a:p>
        </p:txBody>
      </p:sp>
      <p:sp>
        <p:nvSpPr>
          <p:cNvPr id="5" name="Text 3"/>
          <p:cNvSpPr/>
          <p:nvPr/>
        </p:nvSpPr>
        <p:spPr>
          <a:xfrm>
            <a:off x="812783" y="6238301"/>
            <a:ext cx="10883352" cy="2386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BB3"/>
                </a:solidFill>
                <a:latin typeface="IBM Plex Sans" pitchFamily="34" charset="0"/>
                <a:ea typeface="IBM Plex Sans" pitchFamily="34" charset="-122"/>
                <a:cs typeface="IBM Plex Sans" pitchFamily="34" charset="-120"/>
              </a:rPr>
              <a:t>Q4 2026 · Data as of October 15,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3" y="812783"/>
            <a:ext cx="10883416" cy="23868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783" y="1127662"/>
            <a:ext cx="10883416" cy="52829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Q4 is $8.2M short, and nobody can see why</a:t>
            </a:r>
            <a:endParaRPr lang="en-US" sz="3600" dirty="0"/>
          </a:p>
        </p:txBody>
      </p:sp>
      <p:sp>
        <p:nvSpPr>
          <p:cNvPr id="4" name="Shape 2"/>
          <p:cNvSpPr/>
          <p:nvPr/>
        </p:nvSpPr>
        <p:spPr>
          <a:xfrm>
            <a:off x="815958" y="1989298"/>
            <a:ext cx="3383000" cy="1667701"/>
          </a:xfrm>
          <a:prstGeom prst="roundRect">
            <a:avLst>
              <a:gd name="adj" fmla="val 5902"/>
            </a:avLst>
          </a:prstGeom>
          <a:solidFill>
            <a:srgbClr val="FDFCF9"/>
          </a:solidFill>
          <a:ln w="6350">
            <a:solidFill>
              <a:srgbClr val="E2DFD6"/>
            </a:solidFill>
            <a:prstDash val="solid"/>
          </a:ln>
        </p:spPr>
      </p:sp>
      <p:sp>
        <p:nvSpPr>
          <p:cNvPr id="5" name="Text 3"/>
          <p:cNvSpPr/>
          <p:nvPr/>
        </p:nvSpPr>
        <p:spPr>
          <a:xfrm>
            <a:off x="1121546" y="2294886"/>
            <a:ext cx="285497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Q4 target</a:t>
            </a:r>
            <a:endParaRPr lang="en-US" sz="1600" dirty="0"/>
          </a:p>
        </p:txBody>
      </p:sp>
      <p:sp>
        <p:nvSpPr>
          <p:cNvPr id="6" name="Text 4"/>
          <p:cNvSpPr/>
          <p:nvPr/>
        </p:nvSpPr>
        <p:spPr>
          <a:xfrm>
            <a:off x="1121546" y="2680904"/>
            <a:ext cx="2854977" cy="695907"/>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4213D"/>
                </a:solidFill>
                <a:latin typeface="Space Grotesk" pitchFamily="34" charset="0"/>
                <a:ea typeface="Space Grotesk" pitchFamily="34" charset="-122"/>
                <a:cs typeface="Space Grotesk" pitchFamily="34" charset="-120"/>
              </a:rPr>
              <a:t>$125M</a:t>
            </a:r>
            <a:endParaRPr lang="en-US" sz="4800" dirty="0"/>
          </a:p>
        </p:txBody>
      </p:sp>
      <p:sp>
        <p:nvSpPr>
          <p:cNvPr id="7" name="Shape 5"/>
          <p:cNvSpPr/>
          <p:nvPr/>
        </p:nvSpPr>
        <p:spPr>
          <a:xfrm>
            <a:off x="4408488" y="1989298"/>
            <a:ext cx="3383000" cy="1667701"/>
          </a:xfrm>
          <a:prstGeom prst="roundRect">
            <a:avLst>
              <a:gd name="adj" fmla="val 5902"/>
            </a:avLst>
          </a:prstGeom>
          <a:solidFill>
            <a:srgbClr val="FDFCF9"/>
          </a:solidFill>
          <a:ln w="6350">
            <a:solidFill>
              <a:srgbClr val="E2DFD6"/>
            </a:solidFill>
            <a:prstDash val="solid"/>
          </a:ln>
        </p:spPr>
      </p:sp>
      <p:sp>
        <p:nvSpPr>
          <p:cNvPr id="8" name="Text 6"/>
          <p:cNvSpPr/>
          <p:nvPr/>
        </p:nvSpPr>
        <p:spPr>
          <a:xfrm>
            <a:off x="4714077" y="2294886"/>
            <a:ext cx="285497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Current forecast</a:t>
            </a:r>
            <a:endParaRPr lang="en-US" sz="1600" dirty="0"/>
          </a:p>
        </p:txBody>
      </p:sp>
      <p:sp>
        <p:nvSpPr>
          <p:cNvPr id="9" name="Text 7"/>
          <p:cNvSpPr/>
          <p:nvPr/>
        </p:nvSpPr>
        <p:spPr>
          <a:xfrm>
            <a:off x="4714077" y="2680904"/>
            <a:ext cx="2854977" cy="695907"/>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4213D"/>
                </a:solidFill>
                <a:latin typeface="Space Grotesk" pitchFamily="34" charset="0"/>
                <a:ea typeface="Space Grotesk" pitchFamily="34" charset="-122"/>
                <a:cs typeface="Space Grotesk" pitchFamily="34" charset="-120"/>
              </a:rPr>
              <a:t>$116.8M</a:t>
            </a:r>
            <a:endParaRPr lang="en-US" sz="4800" dirty="0"/>
          </a:p>
        </p:txBody>
      </p:sp>
      <p:sp>
        <p:nvSpPr>
          <p:cNvPr id="10" name="Shape 8"/>
          <p:cNvSpPr/>
          <p:nvPr/>
        </p:nvSpPr>
        <p:spPr>
          <a:xfrm>
            <a:off x="7997843" y="1986123"/>
            <a:ext cx="3381363" cy="1674051"/>
          </a:xfrm>
          <a:prstGeom prst="roundRect">
            <a:avLst>
              <a:gd name="adj" fmla="val 6069"/>
            </a:avLst>
          </a:prstGeom>
          <a:solidFill>
            <a:srgbClr val="14213D"/>
          </a:solidFill>
          <a:ln/>
        </p:spPr>
      </p:sp>
      <p:sp>
        <p:nvSpPr>
          <p:cNvPr id="11" name="Text 9"/>
          <p:cNvSpPr/>
          <p:nvPr/>
        </p:nvSpPr>
        <p:spPr>
          <a:xfrm>
            <a:off x="8302613" y="2290893"/>
            <a:ext cx="285497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IBM Plex Sans" pitchFamily="34" charset="0"/>
                <a:ea typeface="IBM Plex Sans" pitchFamily="34" charset="-122"/>
                <a:cs typeface="IBM Plex Sans" pitchFamily="34" charset="-120"/>
              </a:rPr>
              <a:t>Gap to close</a:t>
            </a:r>
            <a:endParaRPr lang="en-US" sz="1600" dirty="0"/>
          </a:p>
        </p:txBody>
      </p:sp>
      <p:sp>
        <p:nvSpPr>
          <p:cNvPr id="12" name="Text 10"/>
          <p:cNvSpPr/>
          <p:nvPr/>
        </p:nvSpPr>
        <p:spPr>
          <a:xfrm>
            <a:off x="8302613" y="2676909"/>
            <a:ext cx="2854977" cy="695907"/>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8924A"/>
                </a:solidFill>
                <a:latin typeface="Space Grotesk" pitchFamily="34" charset="0"/>
                <a:ea typeface="Space Grotesk" pitchFamily="34" charset="-122"/>
                <a:cs typeface="Space Grotesk" pitchFamily="34" charset="-120"/>
              </a:rPr>
              <a:t>$8.2M</a:t>
            </a:r>
            <a:endParaRPr lang="en-US" sz="4800" dirty="0"/>
          </a:p>
        </p:txBody>
      </p:sp>
      <p:sp>
        <p:nvSpPr>
          <p:cNvPr id="13" name="Text 11"/>
          <p:cNvSpPr/>
          <p:nvPr/>
        </p:nvSpPr>
        <p:spPr>
          <a:xfrm>
            <a:off x="812783" y="4015739"/>
            <a:ext cx="981068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The reasons sit in four systems (CRM, inventory, billing and support), and each team says its part is fine. By the time someone adds it up, the quarter is over.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3" y="812783"/>
            <a:ext cx="10883416" cy="23868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IBM Plex Sans" pitchFamily="34" charset="0"/>
                <a:ea typeface="IBM Plex Sans" pitchFamily="34" charset="-122"/>
                <a:cs typeface="IBM Plex Sans" pitchFamily="34" charset="-120"/>
              </a:rPr>
              <a:t>WHAT WE BUILT</a:t>
            </a:r>
            <a:endParaRPr lang="en-US" sz="1200" dirty="0"/>
          </a:p>
        </p:txBody>
      </p:sp>
      <p:sp>
        <p:nvSpPr>
          <p:cNvPr id="3" name="Text 1"/>
          <p:cNvSpPr/>
          <p:nvPr>
            <p:ph type="title"/>
          </p:nvPr>
        </p:nvSpPr>
        <p:spPr>
          <a:xfrm>
            <a:off x="812783" y="1127663"/>
            <a:ext cx="10883416" cy="52829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One ledger for every dollar at risk</a:t>
            </a:r>
            <a:endParaRPr lang="en-US" sz="3600" dirty="0"/>
          </a:p>
        </p:txBody>
      </p:sp>
      <p:sp>
        <p:nvSpPr>
          <p:cNvPr id="4" name="Text 2"/>
          <p:cNvSpPr/>
          <p:nvPr/>
        </p:nvSpPr>
        <p:spPr>
          <a:xfrm>
            <a:off x="812783" y="1986122"/>
            <a:ext cx="3401047" cy="695907"/>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4213D"/>
                </a:solidFill>
                <a:latin typeface="Space Grotesk" pitchFamily="34" charset="0"/>
                <a:ea typeface="Space Grotesk" pitchFamily="34" charset="-122"/>
                <a:cs typeface="Space Grotesk" pitchFamily="34" charset="-120"/>
              </a:rPr>
              <a:t>$12.4M</a:t>
            </a:r>
            <a:endParaRPr lang="en-US" sz="4800" dirty="0"/>
          </a:p>
        </p:txBody>
      </p:sp>
      <p:sp>
        <p:nvSpPr>
          <p:cNvPr id="5" name="Text 3"/>
          <p:cNvSpPr/>
          <p:nvPr/>
        </p:nvSpPr>
        <p:spPr>
          <a:xfrm>
            <a:off x="812783" y="2783618"/>
            <a:ext cx="340104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at risk across 74 items</a:t>
            </a:r>
            <a:endParaRPr lang="en-US" sz="1600" dirty="0"/>
          </a:p>
        </p:txBody>
      </p:sp>
      <p:sp>
        <p:nvSpPr>
          <p:cNvPr id="6" name="Text 4"/>
          <p:cNvSpPr/>
          <p:nvPr/>
        </p:nvSpPr>
        <p:spPr>
          <a:xfrm>
            <a:off x="812783" y="3195031"/>
            <a:ext cx="34010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5541A"/>
                </a:solidFill>
                <a:latin typeface="IBM Plex Sans" pitchFamily="34" charset="0"/>
                <a:ea typeface="IBM Plex Sans" pitchFamily="34" charset="-122"/>
                <a:cs typeface="IBM Plex Sans" pitchFamily="34" charset="-120"/>
              </a:rPr>
              <a:t>$6.4M of it recoverable</a:t>
            </a:r>
            <a:endParaRPr lang="en-US" sz="1600" dirty="0"/>
          </a:p>
        </p:txBody>
      </p:sp>
      <p:sp>
        <p:nvSpPr>
          <p:cNvPr id="7" name="Text 5"/>
          <p:cNvSpPr/>
          <p:nvPr/>
        </p:nvSpPr>
        <p:spPr>
          <a:xfrm>
            <a:off x="812783" y="3606447"/>
            <a:ext cx="3401047" cy="4519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Every item has an owner, a due date, a blocker and a recovery probability.</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33112" y="1998103"/>
          <a:ext cx="6846094" cy="2311610"/>
        </p:xfrm>
        <a:graphic>
          <a:graphicData uri="http://schemas.openxmlformats.org/drawingml/2006/table">
            <a:tbl>
              <a:tblPr/>
              <a:tblGrid>
                <a:gridCol w="2738438"/>
                <a:gridCol w="1095375"/>
                <a:gridCol w="1506141"/>
                <a:gridCol w="1506141"/>
              </a:tblGrid>
              <a:tr h="385268">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Category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Items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At risk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Recoverable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85268">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Late-stage pipeline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2A3"/>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$4.1M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2A3"/>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$1.9M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2A3"/>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r>
              <a:tr h="385268">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Fulfillment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$3.2M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$1.7M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268">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Renewal (ARR)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$2.3M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268">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Billing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$1.6M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$1.4M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268">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Support (ARR)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$1.2M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$0.5M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9" name="Text 6"/>
          <p:cNvSpPr/>
          <p:nvPr/>
        </p:nvSpPr>
        <p:spPr>
          <a:xfrm>
            <a:off x="812783" y="6238301"/>
            <a:ext cx="11379217" cy="2386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Thresholds live in one config table, with no hardcoded rules. Renewal and support are annual recurring revenue (ARR) and don’t change the Q4 forecast.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3" y="812783"/>
            <a:ext cx="10883416" cy="23868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IBM Plex Sans" pitchFamily="34" charset="0"/>
                <a:ea typeface="IBM Plex Sans" pitchFamily="34" charset="-122"/>
                <a:cs typeface="IBM Plex Sans" pitchFamily="34" charset="-120"/>
              </a:rPr>
              <a:t>BIGGEST EXPOSURE: LATE-STAGE SLIPPAGE</a:t>
            </a:r>
            <a:endParaRPr lang="en-US" sz="1200" dirty="0"/>
          </a:p>
        </p:txBody>
      </p:sp>
      <p:sp>
        <p:nvSpPr>
          <p:cNvPr id="3" name="Text 1"/>
          <p:cNvSpPr/>
          <p:nvPr>
            <p:ph type="title"/>
          </p:nvPr>
        </p:nvSpPr>
        <p:spPr>
          <a:xfrm>
            <a:off x="812783" y="1127663"/>
            <a:ext cx="10883416" cy="52829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$4.1M at risk in six stalled deals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764" y="1947309"/>
          <a:ext cx="10554442" cy="2322967"/>
        </p:xfrm>
        <a:graphic>
          <a:graphicData uri="http://schemas.openxmlformats.org/drawingml/2006/table">
            <a:tbl>
              <a:tblPr/>
              <a:tblGrid>
                <a:gridCol w="2744155"/>
                <a:gridCol w="2321977"/>
                <a:gridCol w="1266533"/>
                <a:gridCol w="1266533"/>
                <a:gridCol w="2955244"/>
              </a:tblGrid>
              <a:tr h="331852">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Customer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Stage · days stuck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At 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Recovery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Blocker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31852">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Pioneer Holdings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Legal Review · 80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2A3"/>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$1.10M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2A3"/>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2A3"/>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Legal review stalled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2A3"/>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r>
              <a:tr h="331852">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Crescent Systems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Negotiation · 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$850K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Executive approval pending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1852">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Summit Systems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Commit · 88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2A3"/>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$720K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2A3"/>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2A3"/>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Stakeholders gone quiet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2A3"/>
                      </a:solidFill>
                      <a:prstDash val="solid"/>
                      <a:round/>
                      <a:headEnd type="none" w="med" len="med"/>
                      <a:tailEnd type="none" w="med" len="med"/>
                    </a:lnL>
                    <a:lnR w="12700" cap="flat" cmpd="sng" algn="ctr">
                      <a:solidFill>
                        <a:srgbClr val="C4B2A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4B2A3"/>
                      </a:solidFill>
                      <a:prstDash val="solid"/>
                      <a:round/>
                      <a:headEnd type="none" w="med" len="med"/>
                      <a:tailEnd type="none" w="med" len="med"/>
                    </a:lnB>
                    <a:solidFill>
                      <a:srgbClr val="F6DFCC"/>
                    </a:solidFill>
                  </a:tcPr>
                </a:tc>
              </a:tr>
              <a:tr h="331852">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Silverline Group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Legal Review · 58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$610K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Contract redlines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4B2A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1852">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Northstar Networks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Negotiation · 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$480K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49%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Procurement delay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1852">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Northstar Industries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Proposal · 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$340K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Security review pending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783" y="4575046"/>
            <a:ext cx="5181590" cy="954871"/>
          </a:xfrm>
          <a:prstGeom prst="rect">
            <a:avLst/>
          </a:prstGeom>
          <a:solidFill>
            <a:srgbClr val="FDFCF9"/>
          </a:solidFill>
          <a:ln/>
        </p:spPr>
        <p:txBody>
          <a:bodyPr wrap="square" lIns="239123" tIns="203200" rIns="61001" bIns="203200" rtlCol="0" anchor="t">
            <a:normAutofit/>
          </a:bodyPr>
          <a:lstStyle/>
          <a:p>
            <a:pPr algn="l" indent="0" marL="0">
              <a:lnSpc>
                <a:spcPts val="2160"/>
              </a:lnSpc>
              <a:buNone/>
            </a:pPr>
            <a:r>
              <a:rPr lang="en-US" sz="1600" b="1" dirty="0">
                <a:solidFill>
                  <a:srgbClr val="14213D"/>
                </a:solidFill>
                <a:latin typeface="IBM Plex Sans" pitchFamily="34" charset="0"/>
                <a:ea typeface="IBM Plex Sans" pitchFamily="34" charset="-122"/>
                <a:cs typeface="IBM Plex Sans" pitchFamily="34" charset="-120"/>
              </a:rPr>
              <a:t>Most urgent:</a:t>
            </a:r>
            <a:r>
              <a:rPr lang="en-US" sz="1600" dirty="0">
                <a:solidFill>
                  <a:srgbClr val="14213D"/>
                </a:solidFill>
                <a:latin typeface="IBM Plex Sans" pitchFamily="34" charset="0"/>
                <a:ea typeface="IBM Plex Sans" pitchFamily="34" charset="-122"/>
                <a:cs typeface="IBM Plex Sans" pitchFamily="34" charset="-120"/>
              </a:rPr>
              <a:t> Pioneer, $1.1M, closes October 28.</a:t>
            </a:r>
            <a:endParaRPr lang="en-US" sz="1600" dirty="0"/>
          </a:p>
        </p:txBody>
      </p:sp>
      <p:sp>
        <p:nvSpPr>
          <p:cNvPr id="6" name="Shape 3"/>
          <p:cNvSpPr/>
          <p:nvPr/>
        </p:nvSpPr>
        <p:spPr>
          <a:xfrm>
            <a:off x="831833" y="4575046"/>
            <a:ext cx="0" cy="954871"/>
          </a:xfrm>
          <a:prstGeom prst="line">
            <a:avLst/>
          </a:prstGeom>
          <a:noFill/>
          <a:ln w="38100">
            <a:solidFill>
              <a:srgbClr val="B5541A"/>
            </a:solidFill>
            <a:prstDash val="solid"/>
          </a:ln>
        </p:spPr>
      </p:sp>
      <p:sp>
        <p:nvSpPr>
          <p:cNvPr id="7" name="Text 4"/>
          <p:cNvSpPr/>
          <p:nvPr/>
        </p:nvSpPr>
        <p:spPr>
          <a:xfrm>
            <a:off x="6197553" y="4575046"/>
            <a:ext cx="5181653" cy="954871"/>
          </a:xfrm>
          <a:prstGeom prst="rect">
            <a:avLst/>
          </a:prstGeom>
          <a:solidFill>
            <a:srgbClr val="FDFCF9"/>
          </a:solidFill>
          <a:ln/>
        </p:spPr>
        <p:txBody>
          <a:bodyPr wrap="square" lIns="239123" tIns="203200" rIns="60999" bIns="177760" rtlCol="0" anchor="t">
            <a:normAutofit/>
          </a:bodyPr>
          <a:lstStyle/>
          <a:p>
            <a:pPr algn="l" indent="0" marL="0">
              <a:lnSpc>
                <a:spcPts val="2160"/>
              </a:lnSpc>
              <a:buNone/>
            </a:pPr>
            <a:r>
              <a:rPr lang="en-US" sz="1600" b="1" dirty="0">
                <a:solidFill>
                  <a:srgbClr val="14213D"/>
                </a:solidFill>
                <a:latin typeface="IBM Plex Sans" pitchFamily="34" charset="0"/>
                <a:ea typeface="IBM Plex Sans" pitchFamily="34" charset="-122"/>
                <a:cs typeface="IBM Plex Sans" pitchFamily="34" charset="-120"/>
              </a:rPr>
              <a:t>Forecast inflation:</a:t>
            </a:r>
            <a:r>
              <a:rPr lang="en-US" sz="1600" dirty="0">
                <a:solidFill>
                  <a:srgbClr val="14213D"/>
                </a:solidFill>
                <a:latin typeface="IBM Plex Sans" pitchFamily="34" charset="0"/>
                <a:ea typeface="IBM Plex Sans" pitchFamily="34" charset="-122"/>
                <a:cs typeface="IBM Plex Sans" pitchFamily="34" charset="-120"/>
              </a:rPr>
              <a:t> “Commit” for 88 days without moving.</a:t>
            </a:r>
            <a:endParaRPr lang="en-US" sz="1600" dirty="0"/>
          </a:p>
        </p:txBody>
      </p:sp>
      <p:sp>
        <p:nvSpPr>
          <p:cNvPr id="8" name="Shape 5"/>
          <p:cNvSpPr/>
          <p:nvPr/>
        </p:nvSpPr>
        <p:spPr>
          <a:xfrm>
            <a:off x="6216603" y="4575046"/>
            <a:ext cx="0" cy="954871"/>
          </a:xfrm>
          <a:prstGeom prst="line">
            <a:avLst/>
          </a:prstGeom>
          <a:noFill/>
          <a:ln w="38100">
            <a:solidFill>
              <a:srgbClr val="B5541A"/>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783" y="812784"/>
            <a:ext cx="10883416" cy="23868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924A"/>
                </a:solidFill>
                <a:latin typeface="IBM Plex Sans" pitchFamily="34" charset="0"/>
                <a:ea typeface="IBM Plex Sans" pitchFamily="34" charset="-122"/>
                <a:cs typeface="IBM Plex Sans" pitchFamily="34" charset="-120"/>
              </a:rPr>
              <a:t>20,000 SIMULATED QUARTERS</a:t>
            </a:r>
            <a:endParaRPr lang="en-US" sz="1200" dirty="0"/>
          </a:p>
        </p:txBody>
      </p:sp>
      <p:sp>
        <p:nvSpPr>
          <p:cNvPr id="3" name="Text 1"/>
          <p:cNvSpPr/>
          <p:nvPr>
            <p:ph type="title"/>
          </p:nvPr>
        </p:nvSpPr>
        <p:spPr>
          <a:xfrm>
            <a:off x="812783" y="1127661"/>
            <a:ext cx="10883416" cy="52829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Space Grotesk" pitchFamily="34" charset="0"/>
                <a:ea typeface="Space Grotesk" pitchFamily="34" charset="-122"/>
                <a:cs typeface="Space Grotesk" pitchFamily="34" charset="-120"/>
              </a:rPr>
              <a:t>We close most of the gap, not all</a:t>
            </a:r>
            <a:endParaRPr lang="en-US" sz="3600" dirty="0"/>
          </a:p>
        </p:txBody>
      </p:sp>
      <p:sp>
        <p:nvSpPr>
          <p:cNvPr id="4" name="Text 2"/>
          <p:cNvSpPr/>
          <p:nvPr/>
        </p:nvSpPr>
        <p:spPr>
          <a:xfrm>
            <a:off x="812783" y="1935327"/>
            <a:ext cx="3139389"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Q4 gap today</a:t>
            </a:r>
            <a:endParaRPr lang="en-US" sz="1600" dirty="0"/>
          </a:p>
        </p:txBody>
      </p:sp>
      <p:sp>
        <p:nvSpPr>
          <p:cNvPr id="5" name="Text 3"/>
          <p:cNvSpPr/>
          <p:nvPr/>
        </p:nvSpPr>
        <p:spPr>
          <a:xfrm>
            <a:off x="812783" y="2245153"/>
            <a:ext cx="3139389" cy="2386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Target minus forecast</a:t>
            </a:r>
            <a:endParaRPr lang="en-US" sz="1200" dirty="0"/>
          </a:p>
        </p:txBody>
      </p:sp>
      <p:sp>
        <p:nvSpPr>
          <p:cNvPr id="6" name="Shape 4"/>
          <p:cNvSpPr/>
          <p:nvPr/>
        </p:nvSpPr>
        <p:spPr>
          <a:xfrm>
            <a:off x="4063913" y="1968277"/>
            <a:ext cx="6095963" cy="457155"/>
          </a:xfrm>
          <a:prstGeom prst="roundRect">
            <a:avLst>
              <a:gd name="adj" fmla="val 11112"/>
            </a:avLst>
          </a:prstGeom>
          <a:solidFill>
            <a:srgbClr val="E8924A"/>
          </a:solidFill>
          <a:ln/>
        </p:spPr>
      </p:sp>
      <p:sp>
        <p:nvSpPr>
          <p:cNvPr id="7" name="Text 5"/>
          <p:cNvSpPr/>
          <p:nvPr/>
        </p:nvSpPr>
        <p:spPr>
          <a:xfrm>
            <a:off x="10363056" y="2001351"/>
            <a:ext cx="999152" cy="41647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7F6F2"/>
                </a:solidFill>
                <a:latin typeface="Space Grotesk" pitchFamily="34" charset="0"/>
                <a:ea typeface="Space Grotesk" pitchFamily="34" charset="-122"/>
                <a:cs typeface="Space Grotesk" pitchFamily="34" charset="-120"/>
              </a:rPr>
              <a:t>$8.2M</a:t>
            </a:r>
            <a:endParaRPr lang="en-US" sz="2200" dirty="0"/>
          </a:p>
        </p:txBody>
      </p:sp>
      <p:sp>
        <p:nvSpPr>
          <p:cNvPr id="8" name="Text 6"/>
          <p:cNvSpPr/>
          <p:nvPr/>
        </p:nvSpPr>
        <p:spPr>
          <a:xfrm>
            <a:off x="812783" y="2661624"/>
            <a:ext cx="3139389"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After governed recovery</a:t>
            </a:r>
            <a:endParaRPr lang="en-US" sz="1600" dirty="0"/>
          </a:p>
        </p:txBody>
      </p:sp>
      <p:sp>
        <p:nvSpPr>
          <p:cNvPr id="9" name="Text 7"/>
          <p:cNvSpPr/>
          <p:nvPr/>
        </p:nvSpPr>
        <p:spPr>
          <a:xfrm>
            <a:off x="812783" y="2971447"/>
            <a:ext cx="3139389" cy="2386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+$5.0M · 56 items</a:t>
            </a:r>
            <a:endParaRPr lang="en-US" sz="1200" dirty="0"/>
          </a:p>
        </p:txBody>
      </p:sp>
      <p:sp>
        <p:nvSpPr>
          <p:cNvPr id="10" name="Shape 8"/>
          <p:cNvSpPr/>
          <p:nvPr/>
        </p:nvSpPr>
        <p:spPr>
          <a:xfrm>
            <a:off x="4063913" y="2694570"/>
            <a:ext cx="2381188" cy="457155"/>
          </a:xfrm>
          <a:prstGeom prst="roundRect">
            <a:avLst>
              <a:gd name="adj" fmla="val 11112"/>
            </a:avLst>
          </a:prstGeom>
          <a:solidFill>
            <a:srgbClr val="E8924A"/>
          </a:solidFill>
          <a:ln/>
        </p:spPr>
      </p:sp>
      <p:sp>
        <p:nvSpPr>
          <p:cNvPr id="11" name="Text 9"/>
          <p:cNvSpPr/>
          <p:nvPr/>
        </p:nvSpPr>
        <p:spPr>
          <a:xfrm>
            <a:off x="6648281" y="2727644"/>
            <a:ext cx="1001847" cy="41647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7F6F2"/>
                </a:solidFill>
                <a:latin typeface="Space Grotesk" pitchFamily="34" charset="0"/>
                <a:ea typeface="Space Grotesk" pitchFamily="34" charset="-122"/>
                <a:cs typeface="Space Grotesk" pitchFamily="34" charset="-120"/>
              </a:rPr>
              <a:t>$3.2M</a:t>
            </a:r>
            <a:endParaRPr lang="en-US" sz="2200" dirty="0"/>
          </a:p>
        </p:txBody>
      </p:sp>
      <p:sp>
        <p:nvSpPr>
          <p:cNvPr id="12" name="Text 10"/>
          <p:cNvSpPr/>
          <p:nvPr/>
        </p:nvSpPr>
        <p:spPr>
          <a:xfrm>
            <a:off x="812783" y="3387917"/>
            <a:ext cx="3139389"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After approved upside</a:t>
            </a:r>
            <a:endParaRPr lang="en-US" sz="1600" dirty="0"/>
          </a:p>
        </p:txBody>
      </p:sp>
      <p:sp>
        <p:nvSpPr>
          <p:cNvPr id="13" name="Text 11"/>
          <p:cNvSpPr/>
          <p:nvPr/>
        </p:nvSpPr>
        <p:spPr>
          <a:xfrm>
            <a:off x="812783" y="3697740"/>
            <a:ext cx="3139389" cy="2386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+$1.0M · 9 items, need sign-off</a:t>
            </a:r>
            <a:endParaRPr lang="en-US" sz="1200" dirty="0"/>
          </a:p>
        </p:txBody>
      </p:sp>
      <p:sp>
        <p:nvSpPr>
          <p:cNvPr id="14" name="Shape 12"/>
          <p:cNvSpPr/>
          <p:nvPr/>
        </p:nvSpPr>
        <p:spPr>
          <a:xfrm>
            <a:off x="4063913" y="3420864"/>
            <a:ext cx="1606533" cy="457155"/>
          </a:xfrm>
          <a:prstGeom prst="roundRect">
            <a:avLst>
              <a:gd name="adj" fmla="val 11112"/>
            </a:avLst>
          </a:prstGeom>
          <a:solidFill>
            <a:srgbClr val="E8924A"/>
          </a:solidFill>
          <a:ln/>
        </p:spPr>
      </p:sp>
      <p:sp>
        <p:nvSpPr>
          <p:cNvPr id="15" name="Text 13"/>
          <p:cNvSpPr/>
          <p:nvPr/>
        </p:nvSpPr>
        <p:spPr>
          <a:xfrm>
            <a:off x="5873626" y="3453938"/>
            <a:ext cx="997130" cy="41647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7F6F2"/>
                </a:solidFill>
                <a:latin typeface="Space Grotesk" pitchFamily="34" charset="0"/>
                <a:ea typeface="Space Grotesk" pitchFamily="34" charset="-122"/>
                <a:cs typeface="Space Grotesk" pitchFamily="34" charset="-120"/>
              </a:rPr>
              <a:t>$2.2M</a:t>
            </a:r>
            <a:endParaRPr lang="en-US" sz="2200" dirty="0"/>
          </a:p>
        </p:txBody>
      </p:sp>
      <p:sp>
        <p:nvSpPr>
          <p:cNvPr id="16" name="Text 14"/>
          <p:cNvSpPr/>
          <p:nvPr/>
        </p:nvSpPr>
        <p:spPr>
          <a:xfrm>
            <a:off x="812783" y="4215798"/>
            <a:ext cx="9810686" cy="751756"/>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7F6F2"/>
                </a:solidFill>
                <a:latin typeface="IBM Plex Sans" pitchFamily="34" charset="0"/>
                <a:ea typeface="IBM Plex Sans" pitchFamily="34" charset="-122"/>
                <a:cs typeface="IBM Plex Sans" pitchFamily="34" charset="-120"/>
              </a:rPr>
              <a:t>Chance of hitting $125M: </a:t>
            </a:r>
            <a:r>
              <a:rPr lang="en-US" sz="2200" dirty="0">
                <a:solidFill>
                  <a:srgbClr val="E8924A"/>
                </a:solidFill>
                <a:latin typeface="IBM Plex Sans" pitchFamily="34" charset="0"/>
                <a:ea typeface="IBM Plex Sans" pitchFamily="34" charset="-122"/>
                <a:cs typeface="IBM Plex Sans" pitchFamily="34" charset="-120"/>
              </a:rPr>
              <a:t>about 0%</a:t>
            </a:r>
            <a:r>
              <a:rPr lang="en-US" sz="2200" dirty="0">
                <a:solidFill>
                  <a:srgbClr val="F7F6F2"/>
                </a:solidFill>
                <a:latin typeface="IBM Plex Sans" pitchFamily="34" charset="0"/>
                <a:ea typeface="IBM Plex Sans" pitchFamily="34" charset="-122"/>
                <a:cs typeface="IBM Plex Sans" pitchFamily="34" charset="-120"/>
              </a:rPr>
              <a:t>. We say so in week three, while there’s still time to act.</a:t>
            </a:r>
            <a:endParaRPr lang="en-US" sz="2200" dirty="0"/>
          </a:p>
        </p:txBody>
      </p:sp>
      <p:sp>
        <p:nvSpPr>
          <p:cNvPr id="17" name="Text 15"/>
          <p:cNvSpPr/>
          <p:nvPr/>
        </p:nvSpPr>
        <p:spPr>
          <a:xfrm>
            <a:off x="812783" y="6238301"/>
            <a:ext cx="10883352" cy="2386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BB3"/>
                </a:solidFill>
                <a:latin typeface="IBM Plex Sans" pitchFamily="34" charset="0"/>
                <a:ea typeface="IBM Plex Sans" pitchFamily="34" charset="-122"/>
                <a:cs typeface="IBM Plex Sans" pitchFamily="34" charset="-120"/>
              </a:rPr>
              <a:t>Bars show the remaining gap. Monte Carlo simulation, 20,000 runs, using policy recovery probabilities.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783" y="812784"/>
            <a:ext cx="10883416" cy="23868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IBM Plex Sans" pitchFamily="34" charset="0"/>
                <a:ea typeface="IBM Plex Sans" pitchFamily="34" charset="-122"/>
                <a:cs typeface="IBM Plex Sans" pitchFamily="34" charset="-120"/>
              </a:rPr>
              <a:t>BEYOND THIS QUARTER</a:t>
            </a:r>
            <a:endParaRPr lang="en-US" sz="1200" dirty="0"/>
          </a:p>
        </p:txBody>
      </p:sp>
      <p:sp>
        <p:nvSpPr>
          <p:cNvPr id="3" name="Text 1"/>
          <p:cNvSpPr/>
          <p:nvPr>
            <p:ph type="title"/>
          </p:nvPr>
        </p:nvSpPr>
        <p:spPr>
          <a:xfrm>
            <a:off x="812783" y="1127661"/>
            <a:ext cx="10883416" cy="52829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Stopping the leaks at the source</a:t>
            </a:r>
            <a:endParaRPr lang="en-US" sz="3600" dirty="0"/>
          </a:p>
        </p:txBody>
      </p:sp>
      <p:sp>
        <p:nvSpPr>
          <p:cNvPr id="4" name="Shape 2"/>
          <p:cNvSpPr/>
          <p:nvPr/>
        </p:nvSpPr>
        <p:spPr>
          <a:xfrm>
            <a:off x="812783" y="1986124"/>
            <a:ext cx="4571988" cy="2823990"/>
          </a:xfrm>
          <a:prstGeom prst="roundRect">
            <a:avLst>
              <a:gd name="adj" fmla="val 3598"/>
            </a:avLst>
          </a:prstGeom>
          <a:solidFill>
            <a:srgbClr val="14213D"/>
          </a:solidFill>
          <a:ln/>
        </p:spPr>
      </p:sp>
      <p:sp>
        <p:nvSpPr>
          <p:cNvPr id="5" name="Text 3"/>
          <p:cNvSpPr/>
          <p:nvPr/>
        </p:nvSpPr>
        <p:spPr>
          <a:xfrm>
            <a:off x="1168348" y="2341690"/>
            <a:ext cx="3976683" cy="695907"/>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8924A"/>
                </a:solidFill>
                <a:latin typeface="Space Grotesk" pitchFamily="34" charset="0"/>
                <a:ea typeface="Space Grotesk" pitchFamily="34" charset="-122"/>
                <a:cs typeface="Space Grotesk" pitchFamily="34" charset="-120"/>
              </a:rPr>
              <a:t>$840K</a:t>
            </a:r>
            <a:endParaRPr lang="en-US" sz="4800" dirty="0"/>
          </a:p>
        </p:txBody>
      </p:sp>
      <p:sp>
        <p:nvSpPr>
          <p:cNvPr id="6" name="Text 4"/>
          <p:cNvSpPr/>
          <p:nvPr/>
        </p:nvSpPr>
        <p:spPr>
          <a:xfrm>
            <a:off x="1168348" y="3139182"/>
            <a:ext cx="3976683" cy="57391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7F6F2"/>
                </a:solidFill>
                <a:latin typeface="IBM Plex Sans" pitchFamily="34" charset="0"/>
                <a:ea typeface="IBM Plex Sans" pitchFamily="34" charset="-122"/>
                <a:cs typeface="IBM Plex Sans" pitchFamily="34" charset="-120"/>
              </a:rPr>
              <a:t>of next quarter’s billing exposure is preventable</a:t>
            </a:r>
            <a:endParaRPr lang="en-US" sz="1600" dirty="0"/>
          </a:p>
        </p:txBody>
      </p:sp>
      <p:sp>
        <p:nvSpPr>
          <p:cNvPr id="7" name="Text 5"/>
          <p:cNvSpPr/>
          <p:nvPr/>
        </p:nvSpPr>
        <p:spPr>
          <a:xfrm>
            <a:off x="1168348" y="3814682"/>
            <a:ext cx="3976683" cy="66526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Control: check POs and customer master data when the order is entered. Estimated 60% effective on $1.4M of exposure.</a:t>
            </a:r>
            <a:endParaRPr lang="en-US" sz="1200" dirty="0"/>
          </a:p>
        </p:txBody>
      </p:sp>
      <p:sp>
        <p:nvSpPr>
          <p:cNvPr id="8" name="Shape 6"/>
          <p:cNvSpPr/>
          <p:nvPr/>
        </p:nvSpPr>
        <p:spPr>
          <a:xfrm>
            <a:off x="5591125" y="1989299"/>
            <a:ext cx="5784905" cy="1256162"/>
          </a:xfrm>
          <a:prstGeom prst="roundRect">
            <a:avLst>
              <a:gd name="adj" fmla="val 7835"/>
            </a:avLst>
          </a:prstGeom>
          <a:solidFill>
            <a:srgbClr val="FDFCF9"/>
          </a:solidFill>
          <a:ln w="6350">
            <a:solidFill>
              <a:srgbClr val="E2DFD6"/>
            </a:solidFill>
            <a:prstDash val="solid"/>
          </a:ln>
        </p:spPr>
      </p:sp>
      <p:sp>
        <p:nvSpPr>
          <p:cNvPr id="9" name="Text 7"/>
          <p:cNvSpPr/>
          <p:nvPr/>
        </p:nvSpPr>
        <p:spPr>
          <a:xfrm>
            <a:off x="5845919" y="2244092"/>
            <a:ext cx="5433577" cy="26920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Fulfillment</a:t>
            </a:r>
            <a:endParaRPr lang="en-US" sz="1600" dirty="0"/>
          </a:p>
        </p:txBody>
      </p:sp>
      <p:sp>
        <p:nvSpPr>
          <p:cNvPr id="10" name="Text 8"/>
          <p:cNvSpPr/>
          <p:nvPr/>
        </p:nvSpPr>
        <p:spPr>
          <a:xfrm>
            <a:off x="5845919" y="2564088"/>
            <a:ext cx="5433577" cy="4519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Local warehouses run short of stock. Fix: real-time inventory with automatic transfers between warehouses.</a:t>
            </a:r>
            <a:endParaRPr lang="en-US" sz="1200" dirty="0"/>
          </a:p>
        </p:txBody>
      </p:sp>
      <p:sp>
        <p:nvSpPr>
          <p:cNvPr id="11" name="Shape 9"/>
          <p:cNvSpPr/>
          <p:nvPr/>
        </p:nvSpPr>
        <p:spPr>
          <a:xfrm>
            <a:off x="5591125" y="3454989"/>
            <a:ext cx="5784905" cy="1256162"/>
          </a:xfrm>
          <a:prstGeom prst="roundRect">
            <a:avLst>
              <a:gd name="adj" fmla="val 7835"/>
            </a:avLst>
          </a:prstGeom>
          <a:solidFill>
            <a:srgbClr val="FDFCF9"/>
          </a:solidFill>
          <a:ln w="6350">
            <a:solidFill>
              <a:srgbClr val="E2DFD6"/>
            </a:solidFill>
            <a:prstDash val="solid"/>
          </a:ln>
        </p:spPr>
      </p:sp>
      <p:sp>
        <p:nvSpPr>
          <p:cNvPr id="12" name="Text 10"/>
          <p:cNvSpPr/>
          <p:nvPr/>
        </p:nvSpPr>
        <p:spPr>
          <a:xfrm>
            <a:off x="5845919" y="3709783"/>
            <a:ext cx="5433577" cy="26920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Renewals</a:t>
            </a:r>
            <a:endParaRPr lang="en-US" sz="1600" dirty="0"/>
          </a:p>
        </p:txBody>
      </p:sp>
      <p:sp>
        <p:nvSpPr>
          <p:cNvPr id="13" name="Text 11"/>
          <p:cNvSpPr/>
          <p:nvPr/>
        </p:nvSpPr>
        <p:spPr>
          <a:xfrm>
            <a:off x="5845919" y="4029779"/>
            <a:ext cx="5433577" cy="4519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Low satisfaction scores and falling usage. Fix: an adoption recovery program for at-risk accounts.</a:t>
            </a:r>
            <a:endParaRPr lang="en-US" sz="1200" dirty="0"/>
          </a:p>
        </p:txBody>
      </p:sp>
      <p:sp>
        <p:nvSpPr>
          <p:cNvPr id="14" name="Text 12"/>
          <p:cNvSpPr/>
          <p:nvPr/>
        </p:nvSpPr>
        <p:spPr>
          <a:xfrm>
            <a:off x="812783" y="6238301"/>
            <a:ext cx="10883352" cy="2386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Root causes summarized by AI from each category’s at-risk items. Controls are proposed and waiting for owner sign-off.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783" y="1442917"/>
            <a:ext cx="11379217" cy="52829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Space Grotesk" pitchFamily="34" charset="0"/>
                <a:ea typeface="Space Grotesk" pitchFamily="34" charset="-122"/>
                <a:cs typeface="Space Grotesk" pitchFamily="34" charset="-120"/>
              </a:rPr>
              <a:t>One ledger. Honest odds. A plan for every team.</a:t>
            </a:r>
            <a:endParaRPr lang="en-US" sz="3600" dirty="0"/>
          </a:p>
        </p:txBody>
      </p:sp>
      <p:sp>
        <p:nvSpPr>
          <p:cNvPr id="3" name="Shape 1"/>
          <p:cNvSpPr/>
          <p:nvPr/>
        </p:nvSpPr>
        <p:spPr>
          <a:xfrm>
            <a:off x="812783" y="2352173"/>
            <a:ext cx="3386667" cy="1930148"/>
          </a:xfrm>
          <a:prstGeom prst="roundRect">
            <a:avLst>
              <a:gd name="adj" fmla="val 5264"/>
            </a:avLst>
          </a:prstGeom>
          <a:solidFill>
            <a:srgbClr val="1F2E4F"/>
          </a:solidFill>
          <a:ln/>
        </p:spPr>
      </p:sp>
      <p:sp>
        <p:nvSpPr>
          <p:cNvPr id="4" name="Text 2"/>
          <p:cNvSpPr/>
          <p:nvPr/>
        </p:nvSpPr>
        <p:spPr>
          <a:xfrm>
            <a:off x="1117553" y="2656942"/>
            <a:ext cx="2860441" cy="695907"/>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8924A"/>
                </a:solidFill>
                <a:latin typeface="Space Grotesk" pitchFamily="34" charset="0"/>
                <a:ea typeface="Space Grotesk" pitchFamily="34" charset="-122"/>
                <a:cs typeface="Space Grotesk" pitchFamily="34" charset="-120"/>
              </a:rPr>
              <a:t>&lt;2 min</a:t>
            </a:r>
            <a:endParaRPr lang="en-US" sz="4800" dirty="0"/>
          </a:p>
        </p:txBody>
      </p:sp>
      <p:sp>
        <p:nvSpPr>
          <p:cNvPr id="5" name="Text 3"/>
          <p:cNvSpPr/>
          <p:nvPr/>
        </p:nvSpPr>
        <p:spPr>
          <a:xfrm>
            <a:off x="1117553" y="3429040"/>
            <a:ext cx="2860441" cy="57391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C9D3E3"/>
                </a:solidFill>
                <a:latin typeface="IBM Plex Sans" pitchFamily="34" charset="0"/>
                <a:ea typeface="IBM Plex Sans" pitchFamily="34" charset="-122"/>
                <a:cs typeface="IBM Plex Sans" pitchFamily="34" charset="-120"/>
              </a:rPr>
              <a:t>for a full refresh: ledger, ML scores and AI summaries</a:t>
            </a:r>
            <a:endParaRPr lang="en-US" sz="1600" dirty="0"/>
          </a:p>
        </p:txBody>
      </p:sp>
      <p:sp>
        <p:nvSpPr>
          <p:cNvPr id="6" name="Shape 4"/>
          <p:cNvSpPr/>
          <p:nvPr/>
        </p:nvSpPr>
        <p:spPr>
          <a:xfrm>
            <a:off x="4402630" y="2352173"/>
            <a:ext cx="3386729" cy="1930148"/>
          </a:xfrm>
          <a:prstGeom prst="roundRect">
            <a:avLst>
              <a:gd name="adj" fmla="val 5264"/>
            </a:avLst>
          </a:prstGeom>
          <a:solidFill>
            <a:srgbClr val="1F2E4F"/>
          </a:solidFill>
          <a:ln/>
        </p:spPr>
      </p:sp>
      <p:sp>
        <p:nvSpPr>
          <p:cNvPr id="7" name="Text 5"/>
          <p:cNvSpPr/>
          <p:nvPr/>
        </p:nvSpPr>
        <p:spPr>
          <a:xfrm>
            <a:off x="4707399" y="2656942"/>
            <a:ext cx="2860505" cy="695907"/>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8924A"/>
                </a:solidFill>
                <a:latin typeface="Space Grotesk" pitchFamily="34" charset="0"/>
                <a:ea typeface="Space Grotesk" pitchFamily="34" charset="-122"/>
                <a:cs typeface="Space Grotesk" pitchFamily="34" charset="-120"/>
              </a:rPr>
              <a:t>20,000</a:t>
            </a:r>
            <a:endParaRPr lang="en-US" sz="4800" dirty="0"/>
          </a:p>
        </p:txBody>
      </p:sp>
      <p:sp>
        <p:nvSpPr>
          <p:cNvPr id="8" name="Text 6"/>
          <p:cNvSpPr/>
          <p:nvPr/>
        </p:nvSpPr>
        <p:spPr>
          <a:xfrm>
            <a:off x="4707399" y="3429040"/>
            <a:ext cx="2860505" cy="57391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C9D3E3"/>
                </a:solidFill>
                <a:latin typeface="IBM Plex Sans" pitchFamily="34" charset="0"/>
                <a:ea typeface="IBM Plex Sans" pitchFamily="34" charset="-122"/>
                <a:cs typeface="IBM Plex Sans" pitchFamily="34" charset="-120"/>
              </a:rPr>
              <a:t>simulated quarters behind every scenario</a:t>
            </a:r>
            <a:endParaRPr lang="en-US" sz="1600" dirty="0"/>
          </a:p>
        </p:txBody>
      </p:sp>
      <p:sp>
        <p:nvSpPr>
          <p:cNvPr id="9" name="Shape 7"/>
          <p:cNvSpPr/>
          <p:nvPr/>
        </p:nvSpPr>
        <p:spPr>
          <a:xfrm>
            <a:off x="7992539" y="2352173"/>
            <a:ext cx="3386667" cy="1930148"/>
          </a:xfrm>
          <a:prstGeom prst="roundRect">
            <a:avLst>
              <a:gd name="adj" fmla="val 5264"/>
            </a:avLst>
          </a:prstGeom>
          <a:solidFill>
            <a:srgbClr val="1F2E4F"/>
          </a:solidFill>
          <a:ln/>
        </p:spPr>
      </p:sp>
      <p:sp>
        <p:nvSpPr>
          <p:cNvPr id="10" name="Text 8"/>
          <p:cNvSpPr/>
          <p:nvPr/>
        </p:nvSpPr>
        <p:spPr>
          <a:xfrm>
            <a:off x="8297309" y="2656942"/>
            <a:ext cx="2860441" cy="695907"/>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8924A"/>
                </a:solidFill>
                <a:latin typeface="Space Grotesk" pitchFamily="34" charset="0"/>
                <a:ea typeface="Space Grotesk" pitchFamily="34" charset="-122"/>
                <a:cs typeface="Space Grotesk" pitchFamily="34" charset="-120"/>
              </a:rPr>
              <a:t>1 table</a:t>
            </a:r>
            <a:endParaRPr lang="en-US" sz="4800" dirty="0"/>
          </a:p>
        </p:txBody>
      </p:sp>
      <p:sp>
        <p:nvSpPr>
          <p:cNvPr id="11" name="Text 9"/>
          <p:cNvSpPr/>
          <p:nvPr/>
        </p:nvSpPr>
        <p:spPr>
          <a:xfrm>
            <a:off x="8297309" y="3429040"/>
            <a:ext cx="2860441" cy="57391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C9D3E3"/>
                </a:solidFill>
                <a:latin typeface="IBM Plex Sans" pitchFamily="34" charset="0"/>
                <a:ea typeface="IBM Plex Sans" pitchFamily="34" charset="-122"/>
                <a:cs typeface="IBM Plex Sans" pitchFamily="34" charset="-120"/>
              </a:rPr>
              <a:t>holds every threshold, with no hardcoded rules</a:t>
            </a:r>
            <a:endParaRPr lang="en-US" sz="1600" dirty="0"/>
          </a:p>
        </p:txBody>
      </p:sp>
      <p:sp>
        <p:nvSpPr>
          <p:cNvPr id="12" name="Text 10"/>
          <p:cNvSpPr/>
          <p:nvPr/>
        </p:nvSpPr>
        <p:spPr>
          <a:xfrm>
            <a:off x="812783" y="4688681"/>
            <a:ext cx="9810686" cy="751756"/>
          </a:xfrm>
          <a:prstGeom prst="rect">
            <a:avLst/>
          </a:prstGeom>
          <a:noFill/>
          <a:ln/>
        </p:spPr>
        <p:txBody>
          <a:bodyPr wrap="square" lIns="0" tIns="0" rIns="0" bIns="0" rtlCol="0" anchor="t">
            <a:normAutofit/>
          </a:bodyPr>
          <a:lstStyle/>
          <a:p>
            <a:pPr algn="l" indent="0" marL="0">
              <a:lnSpc>
                <a:spcPts val="2860"/>
              </a:lnSpc>
              <a:buNone/>
            </a:pPr>
            <a:r>
              <a:rPr lang="en-US" sz="2200" i="1" dirty="0">
                <a:solidFill>
                  <a:srgbClr val="F7F6F2"/>
                </a:solidFill>
                <a:latin typeface="IBM Plex Sans" pitchFamily="34" charset="0"/>
                <a:ea typeface="IBM Plex Sans" pitchFamily="34" charset="-122"/>
                <a:cs typeface="IBM Plex Sans" pitchFamily="34" charset="-120"/>
              </a:rPr>
              <a:t>“We don’t just tell you you’ll miss the number. We tell you by how much, why, and what to do on Monday.”</a:t>
            </a:r>
            <a:endParaRPr lang="en-US" sz="2200" dirty="0"/>
          </a:p>
        </p:txBody>
      </p:sp>
    </p:spTree>
  </p:cSld>
  <p:clrMapOvr>
    <a:masterClrMapping/>
  </p:clrMapOvr>
</p:sld>
</file>

<file path=ppt/theme/theme1.xml><?xml version="1.0" encoding="utf-8"?>
<a:theme xmlns:a="http://schemas.openxmlformats.org/drawingml/2006/main" name="Revenue Recovery Agent">
  <a:themeElements>
    <a:clrScheme name="Revenue Recovery Agent">
      <a:dk1>
        <a:srgbClr val="14213D"/>
      </a:dk1>
      <a:lt1>
        <a:srgbClr val="F7F6F2"/>
      </a:lt1>
      <a:dk2>
        <a:srgbClr val="4D566A"/>
      </a:dk2>
      <a:lt2>
        <a:srgbClr val="E0E1E0"/>
      </a:lt2>
      <a:accent1>
        <a:srgbClr val="E8924A"/>
      </a:accent1>
      <a:accent2>
        <a:srgbClr val="B5541A"/>
      </a:accent2>
      <a:accent3>
        <a:srgbClr val="C9D3E3"/>
      </a:accent3>
      <a:accent4>
        <a:srgbClr val="4A5568"/>
      </a:accent4>
      <a:accent5>
        <a:srgbClr val="8E9BB3"/>
      </a:accent5>
      <a:accent6>
        <a:srgbClr val="9AA0A6"/>
      </a:accent6>
      <a:hlink>
        <a:srgbClr val="0563C1"/>
      </a:hlink>
      <a:folHlink>
        <a:srgbClr val="954F72"/>
      </a:folHlink>
    </a:clrScheme>
    <a:fontScheme name="Revenue Recovery Agent">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 Recovery Agent</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2026-10-23T22:06:24Z</dcterms:created>
  <dcterms:modified xsi:type="dcterms:W3CDTF">2026-10-23T22:06:24Z</dcterms:modified>
</cp:coreProperties>
</file>